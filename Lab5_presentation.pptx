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14F4F-EE2E-4711-9140-1FF59E4B8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30EC19-CA1F-4E0E-9DC5-7D56258E6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A3E877-B564-4744-8566-BDB7C385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502375-4DCE-4C80-957F-9A7EA514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3BE5F9-60D4-4F26-9305-674CD02A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47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90F99-0F07-4A29-AB89-D47ECD21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683C4B-21C2-4D53-89EC-EBA68952B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D8C27-58D2-494B-9000-0271BDC9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6E6FE1-7A21-444A-A4E1-F12A4A67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3B6699-78A7-42E2-B60D-39702459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03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B2D9B-42D2-46D9-8F75-1D2583C36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D75CDD-6722-4FA0-9710-1CF41B76E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70E8FA-2232-4E21-8A1B-3E55898F4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A6D7AD-A2EC-4E56-A1AE-09A14E6C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02E294-D4E3-4D21-A22C-08A5E35B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88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AA48F-4719-4F0F-B7F8-9252B430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D23A75-69EA-4A43-A916-146242E19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60C609-FDE1-47D8-9D7F-CD29FE218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F9B9F7-1BB3-4ED9-9098-D2A4B0984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0F1C21-86C4-4BA1-B554-21DE1C19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EAFAC1-1528-489C-AC02-B5ED5BC4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20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C0376-B1D2-4FAC-959E-AEBDE78D2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CA767F-9938-4531-8CEE-6096310F5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A1F51B-9113-4EAE-B8FC-F49F7CDF1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1B55B0-BECD-45D7-91B1-76C6DB566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21036E3-2906-4659-ABAF-2BED78047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2802C8B-6731-4533-A46F-F5AB154A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7C29EF-31A9-4972-91B9-A3111B31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B8FF74-55B6-417C-9EF7-6529B847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96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E5FA2-A6B9-4872-9B41-9507267B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522552-C307-49B1-9BAC-EC30254D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F071EE-BB37-43E4-86CF-EC43E6F9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1B05087-B976-4A72-A8D3-4AD22456F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0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4BD203-EF3B-496F-982B-2228666A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A389B5-48E8-4B09-96E1-543A33CA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6F0DD2-D184-465F-BD0D-2E5E6A0A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44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2C2C9-0C7E-4791-AEDE-ED47166C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F58EB8-A86C-409A-BE11-9A4A7E4BC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D376B5-17D6-41B0-A447-36094F859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CB9173-2D8E-4D8E-98FC-A55B91F6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708A4C-75F3-4DD6-9719-C645F0BF0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428F67-8996-4A83-B10B-98EDC933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30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0C07C-D770-4CA6-AE98-1338AF3D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0597946-DB80-41DA-8771-607EC95EC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512946-887D-43DE-9D17-3553AE21E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86AE5F-0321-42B4-85C8-0CF2294D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69D1C1-7193-4073-BA6D-412447F2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C121AE-2508-494F-A390-668BB277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45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844BF-6475-4A31-B3EA-D77F8154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2BC19D-B712-49E9-9A46-CACCF58EC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CD5138-E4C6-4808-B56F-FFE5E749B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45591B-275F-4A61-BD82-DACC3656A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5DBD6C-9D2E-4EF4-BC06-1151E56F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55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179107-AB6A-4BD1-ACDD-7C5239AC9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E2B93F-CDBF-45FA-BEA5-CA78F4805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A1B88A-AC61-484A-9262-C23AB517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2ABEE4-028F-4BEA-8FEA-19F307489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A55F25-2C1C-4B7D-A713-77675BDB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79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D0DD7A-6607-4183-80DC-94F0E4AB8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A986AE-FB7A-41C7-A290-C9688CBDD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4FFEDD-507E-4DCD-919F-BC11E2473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7966D-2A42-4DE1-A4BB-E02801BD7F96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6F633-3F7C-4627-9E8E-6DFA49C89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3E6979-8D8D-424B-A630-1CCFB2FFA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AB1A9-523D-4BAE-9B33-185E838A417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168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441D9-17F8-4B8F-A6D0-1C107B6554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Biomedical Signals</a:t>
            </a:r>
            <a:br>
              <a:rPr lang="en-GB" dirty="0">
                <a:solidFill>
                  <a:schemeClr val="accent1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Lab session 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F9F63-5486-45CF-914A-DD4CEC283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8779" y="3682248"/>
            <a:ext cx="10074442" cy="1655762"/>
          </a:xfrm>
        </p:spPr>
        <p:txBody>
          <a:bodyPr>
            <a:normAutofit/>
          </a:bodyPr>
          <a:lstStyle/>
          <a:p>
            <a:r>
              <a:rPr lang="en-GB" sz="5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Matched filtering</a:t>
            </a:r>
          </a:p>
        </p:txBody>
      </p:sp>
    </p:spTree>
    <p:extLst>
      <p:ext uri="{BB962C8B-B14F-4D97-AF65-F5344CB8AC3E}">
        <p14:creationId xmlns:p14="http://schemas.microsoft.com/office/powerpoint/2010/main" val="387765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69C36-35B5-43E4-BE79-EC02ECF9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Introduction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C19FA2-667D-4BA9-ADD4-1261681E5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954"/>
            <a:ext cx="10515600" cy="463692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Matched filter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a filter applied in the time domain, based on the time-domain characteristics of the signal and NOT on the spectrum of it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Obtained by correlating a template with an unknown signal to detect the presence of the template in it =  convolve the unknown signal with a time-reversed version of the template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Spike-and-wave complex (SWC)  </a:t>
            </a:r>
            <a:r>
              <a:rPr lang="en-US" dirty="0">
                <a:sym typeface="Wingdings" panose="05000000000000000000" pitchFamily="2" charset="2"/>
              </a:rPr>
              <a:t>a well-defined event in an EEG signal composed by a sharp spike followed by a wave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64634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69C36-35B5-43E4-BE79-EC02ECF9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Introduction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C19FA2-667D-4BA9-ADD4-1261681E5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3"/>
            <a:ext cx="10515600" cy="6416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detect the SWC in a EEG signal we can follow two procedures: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BD079DE-80E4-4198-8300-040FE8DC9D9A}"/>
              </a:ext>
            </a:extLst>
          </p:cNvPr>
          <p:cNvSpPr/>
          <p:nvPr/>
        </p:nvSpPr>
        <p:spPr>
          <a:xfrm>
            <a:off x="962526" y="2422358"/>
            <a:ext cx="5133474" cy="4070517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TEMPLATE MACTHING:</a:t>
            </a: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Computing the cross-correlation function (CCF) between the template of the SWC extracted form the EEG and the EEG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81C7328-337F-4EAD-8973-9A031B83E6EA}"/>
              </a:ext>
            </a:extLst>
          </p:cNvPr>
          <p:cNvSpPr/>
          <p:nvPr/>
        </p:nvSpPr>
        <p:spPr>
          <a:xfrm>
            <a:off x="6521115" y="2422357"/>
            <a:ext cx="5133474" cy="4219075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DESING OF A MATCHED FILTER:</a:t>
            </a: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Applied when a signal is expected to contain repetitions of an event with similar characteristics. The output provides peaks at the time instants of the occurrence of the event.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We replaced the CCF with a matched filer that has an impulse response associated with the template</a:t>
            </a:r>
          </a:p>
        </p:txBody>
      </p:sp>
    </p:spTree>
    <p:extLst>
      <p:ext uri="{BB962C8B-B14F-4D97-AF65-F5344CB8AC3E}">
        <p14:creationId xmlns:p14="http://schemas.microsoft.com/office/powerpoint/2010/main" val="195122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69C36-35B5-43E4-BE79-EC02ECF9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Introduction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F49DD2A-278F-45C6-A1BB-8A430E487FC0}"/>
              </a:ext>
            </a:extLst>
          </p:cNvPr>
          <p:cNvSpPr/>
          <p:nvPr/>
        </p:nvSpPr>
        <p:spPr>
          <a:xfrm>
            <a:off x="838200" y="1470985"/>
            <a:ext cx="10680032" cy="1815882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Objectives: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Detection of SWC in EEG signals using template matching (CCF)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Design and implementation of a matched filter to detect SWC in EEG signals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Compare both results</a:t>
            </a:r>
          </a:p>
          <a:p>
            <a:pPr algn="ctr"/>
            <a:endParaRPr lang="en-GB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117203F-6391-4857-8962-0DE281795932}"/>
              </a:ext>
            </a:extLst>
          </p:cNvPr>
          <p:cNvSpPr txBox="1">
            <a:spLocks/>
          </p:cNvSpPr>
          <p:nvPr/>
        </p:nvSpPr>
        <p:spPr>
          <a:xfrm>
            <a:off x="838199" y="31789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Materials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09B4F42-1713-4331-8B2F-4071BBC35737}"/>
              </a:ext>
            </a:extLst>
          </p:cNvPr>
          <p:cNvSpPr txBox="1"/>
          <p:nvPr/>
        </p:nvSpPr>
        <p:spPr>
          <a:xfrm>
            <a:off x="838201" y="4261269"/>
            <a:ext cx="106800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800" dirty="0"/>
              <a:t>Script ‘eeg2.m’ to upload the signal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800" dirty="0"/>
              <a:t>File eeg2.dat </a:t>
            </a:r>
          </a:p>
          <a:p>
            <a:pPr marL="742950" lvl="1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800" dirty="0"/>
              <a:t>Fs = 100 Hz</a:t>
            </a:r>
          </a:p>
          <a:p>
            <a:pPr marL="742950" lvl="1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800" dirty="0"/>
              <a:t>10 channels</a:t>
            </a:r>
          </a:p>
        </p:txBody>
      </p:sp>
    </p:spTree>
    <p:extLst>
      <p:ext uri="{BB962C8B-B14F-4D97-AF65-F5344CB8AC3E}">
        <p14:creationId xmlns:p14="http://schemas.microsoft.com/office/powerpoint/2010/main" val="249191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69C36-35B5-43E4-BE79-EC02ECF9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Procedure – Template matching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C71C5A-533F-4AD1-A916-964C5A54C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364" y="1467037"/>
            <a:ext cx="11165541" cy="4951692"/>
          </a:xfrm>
        </p:spPr>
        <p:txBody>
          <a:bodyPr>
            <a:normAutofit/>
          </a:bodyPr>
          <a:lstStyle/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AutoNum type="arabicPeriod"/>
            </a:pPr>
            <a:r>
              <a:rPr lang="en-GB" dirty="0"/>
              <a:t>Upload the eeg2 signals</a:t>
            </a:r>
          </a:p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AutoNum type="arabicPeriod"/>
            </a:pPr>
            <a:r>
              <a:rPr lang="en-GB" dirty="0"/>
              <a:t>Extract the template of an SWC (ex: channel C3 from 0.6 to 0.82 s)</a:t>
            </a:r>
          </a:p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AutoNum type="arabicPeriod"/>
            </a:pPr>
            <a:r>
              <a:rPr lang="en-GB" dirty="0"/>
              <a:t>Compute the normalized cross-correlation function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IMPORTANT! </a:t>
            </a:r>
            <a:r>
              <a:rPr lang="en-GB" dirty="0">
                <a:sym typeface="Wingdings" panose="05000000000000000000" pitchFamily="2" charset="2"/>
              </a:rPr>
              <a:t>Computing the root square of the product of E of the template and the E of the segment of the EEG signal being cross-correlated at that lag</a:t>
            </a:r>
            <a:endParaRPr lang="en-GB" dirty="0"/>
          </a:p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AutoNum type="arabicPeriod"/>
            </a:pPr>
            <a:r>
              <a:rPr lang="en-GB" dirty="0"/>
              <a:t>Apply a peak-detection algorithm (based on a threshold of the coefficients of the normalized cross-correlation) + mark the locations</a:t>
            </a:r>
          </a:p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AutoNum type="arabicPeriod"/>
            </a:pPr>
            <a:r>
              <a:rPr lang="en-GB" dirty="0"/>
              <a:t>Plot the EEG + CCF + marks </a:t>
            </a:r>
            <a:r>
              <a:rPr lang="en-GB" dirty="0" err="1"/>
              <a:t>indentifing</a:t>
            </a:r>
            <a:r>
              <a:rPr lang="en-GB" dirty="0"/>
              <a:t> the SWC </a:t>
            </a:r>
          </a:p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AutoNum type="arabicPeriod"/>
            </a:pPr>
            <a:r>
              <a:rPr lang="en-GB" dirty="0"/>
              <a:t>Apply the template and procedure to two other EEG channels (ex: C4 and P4)</a:t>
            </a:r>
          </a:p>
        </p:txBody>
      </p:sp>
    </p:spTree>
    <p:extLst>
      <p:ext uri="{BB962C8B-B14F-4D97-AF65-F5344CB8AC3E}">
        <p14:creationId xmlns:p14="http://schemas.microsoft.com/office/powerpoint/2010/main" val="173186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69C36-35B5-43E4-BE79-EC02ECF9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Procedure – Template matching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E582E6-4169-460E-AFF9-D48A9CC51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202" y="1467882"/>
            <a:ext cx="7439595" cy="480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30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69C36-35B5-43E4-BE79-EC02ECF9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Procedure – Matched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C71C5A-533F-4AD1-A916-964C5A54C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7746"/>
                <a:ext cx="10515600" cy="5065129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Clr>
                    <a:schemeClr val="accent1">
                      <a:lumMod val="60000"/>
                      <a:lumOff val="40000"/>
                    </a:schemeClr>
                  </a:buClr>
                  <a:buAutoNum type="arabicPeriod"/>
                </a:pPr>
                <a:r>
                  <a:rPr lang="en-GB" sz="2400" dirty="0"/>
                  <a:t>Create the impulse response of the filter = time-reverse of the template</a:t>
                </a:r>
              </a:p>
              <a:p>
                <a:pPr marL="514350" indent="-514350">
                  <a:buClr>
                    <a:schemeClr val="accent1">
                      <a:lumMod val="60000"/>
                      <a:lumOff val="40000"/>
                    </a:schemeClr>
                  </a:buClr>
                  <a:buAutoNum type="arabicPeriod"/>
                </a:pPr>
                <a:r>
                  <a:rPr lang="en-GB" sz="2400" dirty="0"/>
                  <a:t>Plot the template and the impulse response of the matched filter</a:t>
                </a:r>
              </a:p>
              <a:p>
                <a:pPr marL="514350" indent="-514350">
                  <a:buClr>
                    <a:schemeClr val="accent1">
                      <a:lumMod val="60000"/>
                      <a:lumOff val="40000"/>
                    </a:schemeClr>
                  </a:buClr>
                  <a:buAutoNum type="arabicPeriod"/>
                </a:pPr>
                <a:r>
                  <a:rPr lang="en-GB" sz="2400" dirty="0"/>
                  <a:t>Apply the filter by using </a:t>
                </a:r>
                <a:r>
                  <a:rPr lang="en-GB" sz="2400" i="1" dirty="0"/>
                  <a:t>filter </a:t>
                </a:r>
                <a:r>
                  <a:rPr lang="en-GB" sz="2400" dirty="0"/>
                  <a:t>function of MATLAB</a:t>
                </a:r>
              </a:p>
              <a:p>
                <a:pPr marL="514350" indent="-514350">
                  <a:buClr>
                    <a:schemeClr val="accent1">
                      <a:lumMod val="60000"/>
                      <a:lumOff val="40000"/>
                    </a:schemeClr>
                  </a:buClr>
                  <a:buAutoNum type="arabicPeriod"/>
                </a:pPr>
                <a:r>
                  <a:rPr lang="en-GB" sz="2400" dirty="0"/>
                  <a:t>Obtain the location of the SWC and plot it (marking the locations on the EEG signal) </a:t>
                </a:r>
                <a:r>
                  <a:rPr lang="en-GB" sz="2400" dirty="0">
                    <a:sym typeface="Wingdings" panose="05000000000000000000" pitchFamily="2" charset="2"/>
                  </a:rPr>
                  <a:t> we aware of the difference in time with the output of the CCF</a:t>
                </a:r>
                <a:endParaRPr lang="en-GB" sz="2400" dirty="0"/>
              </a:p>
              <a:p>
                <a:pPr marL="514350" indent="-514350">
                  <a:buClr>
                    <a:schemeClr val="accent1">
                      <a:lumMod val="60000"/>
                      <a:lumOff val="40000"/>
                    </a:schemeClr>
                  </a:buClr>
                  <a:buAutoNum type="arabicPeriod"/>
                </a:pPr>
                <a:r>
                  <a:rPr lang="en-GB" sz="2400" dirty="0"/>
                  <a:t>Obtain the adaptive gain (so changing gain over time) K of the filter in order to obtain a normalized output:</a:t>
                </a:r>
              </a:p>
              <a:p>
                <a:pPr marL="0" indent="0">
                  <a:buClr>
                    <a:schemeClr val="accent1">
                      <a:lumMod val="60000"/>
                      <a:lumOff val="40000"/>
                    </a:scheme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𝐾𝑥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Clr>
                    <a:schemeClr val="accent1">
                      <a:lumMod val="60000"/>
                      <a:lumOff val="40000"/>
                    </a:schemeClr>
                  </a:buClr>
                  <a:buNone/>
                </a:pPr>
                <a:r>
                  <a:rPr lang="en-GB" sz="2400" dirty="0"/>
                  <a:t>To do so, you have to compute the energy of the impulse response and the epoch of the EEG signal that overlaps with the impulse response at each shift lag</a:t>
                </a:r>
              </a:p>
              <a:p>
                <a:pPr marL="514350" indent="-514350">
                  <a:buClr>
                    <a:schemeClr val="accent1">
                      <a:lumMod val="60000"/>
                      <a:lumOff val="40000"/>
                    </a:schemeClr>
                  </a:buClr>
                  <a:buFont typeface="+mj-lt"/>
                  <a:buAutoNum type="arabicPeriod" startAt="6"/>
                </a:pPr>
                <a:r>
                  <a:rPr lang="en-GB" sz="2400" dirty="0"/>
                  <a:t>Apply the filter to C4 and P4 and analyse the results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C71C5A-533F-4AD1-A916-964C5A54C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7746"/>
                <a:ext cx="10515600" cy="5065129"/>
              </a:xfrm>
              <a:blipFill>
                <a:blip r:embed="rId2"/>
                <a:stretch>
                  <a:fillRect l="-928" t="-18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6D12614-A988-4413-BB87-F400F03D1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213" y="1206366"/>
            <a:ext cx="6811573" cy="552329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AD69C36-35B5-43E4-BE79-EC02ECF9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Procedure – Matched filtering</a:t>
            </a:r>
          </a:p>
        </p:txBody>
      </p:sp>
    </p:spTree>
    <p:extLst>
      <p:ext uri="{BB962C8B-B14F-4D97-AF65-F5344CB8AC3E}">
        <p14:creationId xmlns:p14="http://schemas.microsoft.com/office/powerpoint/2010/main" val="3187164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69C36-35B5-43E4-BE79-EC02ECF9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Procedure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C71C5A-533F-4AD1-A916-964C5A54C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AutoNum type="arabicPeriod"/>
            </a:pPr>
            <a:r>
              <a:rPr lang="en-GB" dirty="0"/>
              <a:t>Discuss the similarities and differences between template matching and matched filtering</a:t>
            </a:r>
          </a:p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AutoNum type="arabicPeriod"/>
            </a:pPr>
            <a:endParaRPr lang="en-GB" dirty="0"/>
          </a:p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AutoNum type="arabicPeriod"/>
            </a:pPr>
            <a:r>
              <a:rPr lang="en-GB" dirty="0"/>
              <a:t>Test the matched filter under noisy circumstances: adding white gaussian noise to the EEG C3 signal. Noise can be added with computing:</a:t>
            </a:r>
          </a:p>
          <a:p>
            <a:pPr marL="457200" lvl="1" indent="0"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lang="en-GB" dirty="0"/>
              <a:t>	</a:t>
            </a:r>
            <a:r>
              <a:rPr lang="en-GB" sz="2200" dirty="0" err="1">
                <a:latin typeface="Consolas" panose="020B0609020204030204" pitchFamily="49" charset="0"/>
              </a:rPr>
              <a:t>signal_with_noise</a:t>
            </a:r>
            <a:r>
              <a:rPr lang="en-GB" sz="2200" dirty="0">
                <a:latin typeface="Consolas" panose="020B0609020204030204" pitchFamily="49" charset="0"/>
              </a:rPr>
              <a:t> = </a:t>
            </a:r>
            <a:r>
              <a:rPr lang="en-GB" sz="2200" dirty="0" err="1">
                <a:latin typeface="Consolas" panose="020B0609020204030204" pitchFamily="49" charset="0"/>
              </a:rPr>
              <a:t>awgn</a:t>
            </a:r>
            <a:r>
              <a:rPr lang="en-GB" sz="2200" dirty="0">
                <a:latin typeface="Consolas" panose="020B0609020204030204" pitchFamily="49" charset="0"/>
              </a:rPr>
              <a:t>(</a:t>
            </a:r>
            <a:r>
              <a:rPr lang="en-GB" sz="2200" dirty="0" err="1">
                <a:latin typeface="Consolas" panose="020B0609020204030204" pitchFamily="49" charset="0"/>
              </a:rPr>
              <a:t>signal_wo_noise</a:t>
            </a:r>
            <a:r>
              <a:rPr lang="en-GB" sz="2200" dirty="0">
                <a:latin typeface="Consolas" panose="020B0609020204030204" pitchFamily="49" charset="0"/>
              </a:rPr>
              <a:t>, SNR, ‘measured’).</a:t>
            </a:r>
          </a:p>
          <a:p>
            <a:pPr marL="457200" lvl="1" indent="0"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lang="en-GB" sz="2800" dirty="0"/>
              <a:t>Check SNR = [20, 15, 10, 5, 0, -5] dB </a:t>
            </a:r>
          </a:p>
          <a:p>
            <a:pPr marL="457200" lvl="1" indent="0">
              <a:buClr>
                <a:schemeClr val="accent1">
                  <a:lumMod val="60000"/>
                  <a:lumOff val="40000"/>
                </a:schemeClr>
              </a:buClr>
              <a:buNone/>
            </a:pPr>
            <a:endParaRPr lang="en-GB" sz="2800" dirty="0"/>
          </a:p>
          <a:p>
            <a:pPr marL="514350" indent="-514350">
              <a:buClr>
                <a:schemeClr val="accent1">
                  <a:lumMod val="60000"/>
                  <a:lumOff val="40000"/>
                </a:schemeClr>
              </a:buClr>
              <a:buFont typeface="+mj-lt"/>
              <a:buAutoNum type="arabicPeriod" startAt="3"/>
            </a:pPr>
            <a:r>
              <a:rPr lang="en-GB" dirty="0"/>
              <a:t>Discuss the robustness of the matched filter from these results</a:t>
            </a:r>
          </a:p>
          <a:p>
            <a:pPr marL="457200" lvl="1" indent="0">
              <a:buClr>
                <a:schemeClr val="accent1">
                  <a:lumMod val="60000"/>
                  <a:lumOff val="40000"/>
                </a:schemeClr>
              </a:buClr>
              <a:buNone/>
            </a:pPr>
            <a:r>
              <a:rPr lang="en-GB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440728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576</Words>
  <Application>Microsoft Office PowerPoint</Application>
  <PresentationFormat>Panorámica</PresentationFormat>
  <Paragraphs>53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Consolas</vt:lpstr>
      <vt:lpstr>Wingdings</vt:lpstr>
      <vt:lpstr>Tema de Office</vt:lpstr>
      <vt:lpstr>Biomedical Signals Lab session 5</vt:lpstr>
      <vt:lpstr>Introduction</vt:lpstr>
      <vt:lpstr>Introduction</vt:lpstr>
      <vt:lpstr>Introduction</vt:lpstr>
      <vt:lpstr>Procedure – Template matching</vt:lpstr>
      <vt:lpstr>Procedure – Template matching</vt:lpstr>
      <vt:lpstr>Procedure – Matched filtering</vt:lpstr>
      <vt:lpstr>Procedure – Matched filtering</vt:lpstr>
      <vt:lpstr>Procedure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Biomedical Signals Lab session 5</dc:title>
  <dc:creator>Gema Mijancos</dc:creator>
  <cp:lastModifiedBy>Gema Mijancos</cp:lastModifiedBy>
  <cp:revision>21</cp:revision>
  <dcterms:created xsi:type="dcterms:W3CDTF">2025-11-18T10:27:57Z</dcterms:created>
  <dcterms:modified xsi:type="dcterms:W3CDTF">2025-11-27T10:32:41Z</dcterms:modified>
</cp:coreProperties>
</file>